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0"/>
              </a:spcAft>
              <a:defRPr sz="6400" b="1">
                <a:solidFill>
                  <a:srgbClr val="FFFFFF"/>
                </a:solidFill>
                <a:latin typeface="Abadi"/>
              </a:defRPr>
            </a:pPr>
            <a:r>
              <a:t>Antigravity</a:t>
            </a:r>
          </a:p>
          <a:p>
            <a:pPr>
              <a:spcAft>
                <a:spcPts val="4800"/>
              </a:spcAft>
              <a:defRPr sz="2800" b="1">
                <a:solidFill>
                  <a:srgbClr val="DBEFEF"/>
                </a:solidFill>
                <a:latin typeface="微軟正黑體"/>
              </a:defRPr>
            </a:pPr>
            <a:r>
              <a:t>引領 MAT 團隊的 Agentic AI 協作新時代</a:t>
            </a:r>
          </a:p>
          <a:p>
            <a:pPr>
              <a:defRPr sz="1600">
                <a:solidFill>
                  <a:srgbClr val="DBEFEF"/>
                </a:solidFill>
                <a:latin typeface="Arial"/>
              </a:defRPr>
            </a:pPr>
            <a:r>
              <a:t>MAT 團隊分享會  |  2026.06.01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73152" cy="475488"/>
          </a:xfrm>
          <a:prstGeom prst="rect">
            <a:avLst/>
          </a:prstGeom>
          <a:solidFill>
            <a:srgbClr val="125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25C69"/>
                </a:solidFill>
                <a:latin typeface="微軟正黑體"/>
              </a:defRPr>
            </a:pPr>
            <a:r>
              <a:t>什麼是 Antigravity？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383280" cy="384048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defRPr sz="1200" b="1">
                <a:solidFill>
                  <a:srgbClr val="125C69"/>
                </a:solidFill>
                <a:latin typeface="Arial"/>
              </a:defRPr>
            </a:pPr>
            <a:r>
              <a:t>01 / 核心概念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30352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48463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Agentic AI 的自主開發體驗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自主規劃能力：動手開發前，自主理解並撰寫實作計劃，徹底告別傳統 AI 的盲目猜測。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自我除錯與執行：在安全沙盒中執行 PowerShell 指令、自力編寫並測試代碼，直到正確為止。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協同工作流：它不只是一個程式編輯器，更是一位能提供專業解決方案的「虛擬開發隊友」。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30352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57400"/>
            <a:ext cx="48463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極致踏實的「三大規劃機制」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實作計畫 (Implementation Plan)：將模糊的業務邏輯細化為具體技術步驟，取得你的同意後才動手。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任務清單 (task.md)：透過即時 TODO 狀態條，讓開發過程中的每一步進度皆清晰、公開且透明。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成果導覽 (walkthrough.md)：在開發完成後，自動演示測試過程與最終成效，提供視覺化的驗證回報。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73152" cy="475488"/>
          </a:xfrm>
          <a:prstGeom prst="rect">
            <a:avLst/>
          </a:prstGeom>
          <a:solidFill>
            <a:srgbClr val="125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25C69"/>
                </a:solidFill>
                <a:latin typeface="微軟正黑體"/>
              </a:defRPr>
            </a:pPr>
            <a:r>
              <a:t>MAT 同事的環境防污染指南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383280" cy="384048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defRPr sz="1200" b="1">
                <a:solidFill>
                  <a:srgbClr val="125C69"/>
                </a:solidFill>
                <a:latin typeface="Arial"/>
              </a:defRPr>
            </a:pPr>
            <a:r>
              <a:t>02 / 環境設定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38328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292608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01 / 建立獨立工作區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專屬沙盒：專案建議統一建在 scratch 下的合理子目錄。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專案 Active Workspace：使用 VS Code 打開該子目錄，提供 AI 完整的上下文分析視野。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828800"/>
            <a:ext cx="338328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2057400"/>
            <a:ext cx="292608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02 / 乾淨虛擬環境 (硬性)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堅持使用 uv 與 .venv：嚴格執行 Python 環境管理，絕不在 Base 環境下跑 Python。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隔離風險：避免不同專案的套件與相依性衝突，確保您的日常分析工具穩定不損毀。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38328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057400"/>
            <a:ext cx="292608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03 / 自動版控與分支安全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gh CLI 自動化：首個版本會自動使用 GitHub CLI 建立遠端儲存庫並完成上傳。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分支管理：若有重大變動，AI 會自主開 Branch 進行安全實作，完成後再詢問合併。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73152" cy="475488"/>
          </a:xfrm>
          <a:prstGeom prst="rect">
            <a:avLst/>
          </a:prstGeom>
          <a:solidFill>
            <a:srgbClr val="125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25C69"/>
                </a:solidFill>
                <a:latin typeface="微軟正黑體"/>
              </a:defRPr>
            </a:pPr>
            <a:r>
              <a:t>MAT 團隊的 AI 協作自訂規範 (Global Rules)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383280" cy="384048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defRPr sz="1200" b="1">
                <a:solidFill>
                  <a:srgbClr val="125C69"/>
                </a:solidFill>
                <a:latin typeface="Arial"/>
              </a:defRPr>
            </a:pPr>
            <a:r>
              <a:t>02 / 自訂規範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30352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48463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MAT 團隊目前採用的全域偏好 (Rules)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繁中與台灣用語：討論過程、內部思考、程式註解、變更報告與 Commit Message 一律使用台灣繁體中文用語。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隔離虛擬環境：開發 Python 程式時，強制使用 uv 搭配 .venv 管理環境，絕不在 Base 下跑 Python，保護主機環境。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版控與分支安全：首版自動使用 gh 建立公開儲存庫上傳，有重大功能異動自動切換獨立分支，確認後再合併。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30352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57400"/>
            <a:ext cx="48463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如何讓大家的 Antigravity 都套用此規範？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方法 A ── 專案級 GEMINI.md (最推薦！)：在專案根目錄下建立 GEMINI.md 檔案 (亦相容 CLAUDE.md)，寫入偏好命令。Antigravity 載入專案時會自動遵守，極利於團隊協作分享。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方法 B ── 全域級 GEMINI.md (一勞永逸！)：在個人家目錄的隱藏設定資料夾下，建立 C:\Users\&lt;Username&gt;\.gemini\GEMINI.md 檔案。此後全電腦所有專案都會自動套用此規則！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方法 C ── 系統 User Rules 設定：直接在 Antigravity 軟體設定的 User Rules 欄位中貼上這些 Rules，即可跨專案自動套用您的個人開發偏好。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73152" cy="475488"/>
          </a:xfrm>
          <a:prstGeom prst="rect">
            <a:avLst/>
          </a:prstGeom>
          <a:solidFill>
            <a:srgbClr val="125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25C69"/>
                </a:solidFill>
                <a:latin typeface="微軟正黑體"/>
              </a:defRPr>
            </a:pPr>
            <a:r>
              <a:t>Demo 現場：5分鐘見證 AI 自主開發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383280" cy="384048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defRPr sz="1200" b="1">
                <a:solidFill>
                  <a:srgbClr val="125C69"/>
                </a:solidFill>
                <a:latin typeface="Arial"/>
              </a:defRPr>
            </a:pPr>
            <a:r>
              <a:t>03 / 實戰展示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51460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205740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1. 引導對齊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輸入 /brainstorm 指令啟動需求對齊。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故意選擇「小白模式」，展示 AI 如何用大白話梳理需求、列出理解假設並提供方案比較表。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828800"/>
            <a:ext cx="251460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2057400"/>
            <a:ext cx="205740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2. 核准實作計畫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確認 AI 產出的實作計畫書無誤後，輸入「同意」一鍵核准執行。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AI 隨即生成 task.md 開始追蹤工作進度。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828800"/>
            <a:ext cx="251460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2057400"/>
            <a:ext cx="205740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3. 自律虛擬執行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AI 自動在背景使用 uv 建立虛擬環境、下載相依套件，並自力編寫核心代碼與 Error Handling。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0" y="1828800"/>
            <a:ext cx="251460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2057400"/>
            <a:ext cx="205740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4. 成果驗證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AI 自動跑測試並撰寫 walkthrough.md，將成果與圖表以 Carousel 或 Markdown 完美打包呈獻給您。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73152" cy="475488"/>
          </a:xfrm>
          <a:prstGeom prst="rect">
            <a:avLst/>
          </a:prstGeom>
          <a:solidFill>
            <a:srgbClr val="125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25C69"/>
                </a:solidFill>
                <a:latin typeface="微軟正黑體"/>
              </a:defRPr>
            </a:pPr>
            <a:r>
              <a:t>動手前先想清楚：/brainstorm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383280" cy="384048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defRPr sz="1200" b="1">
                <a:solidFill>
                  <a:srgbClr val="125C69"/>
                </a:solidFill>
                <a:latin typeface="Arial"/>
              </a:defRPr>
            </a:pPr>
            <a:r>
              <a:t>04 / 亮點功能 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30352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48463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🟢 小白模式 (推薦非技術同事)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成果導向：完全過濾艱澀的技術名詞。例如以「自動執行小程式」替代「Cron Job」。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專注價值：對話重點聚焦於「你能得到什麼」、「有什麼使用風險」以及「未來可以如何延伸」。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直觀對比：方案比較表簡化為優缺點、需要你配合做的事，讓決策輕鬆無負擔。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30352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57400"/>
            <a:ext cx="48463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🔴 工程師模式 (高效率開發)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技術對齊：直接探討檔案路徑、套件版本、API 串接細節與伺服器架構，絕不拖泥帶水。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極速開發：用最精簡的術語與 AI 同頻共振，快速切入代碼實作。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技術矩陣：方案比較表列出完整的技術棧對比、運作效能與工時預估。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73152" cy="475488"/>
          </a:xfrm>
          <a:prstGeom prst="rect">
            <a:avLst/>
          </a:prstGeom>
          <a:solidFill>
            <a:srgbClr val="125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25C69"/>
                </a:solidFill>
                <a:latin typeface="微軟正黑體"/>
              </a:defRPr>
            </a:pPr>
            <a:r>
              <a:t>workflow-skill-creator：讓經驗重複使用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383280" cy="384048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defRPr sz="1200" b="1">
                <a:solidFill>
                  <a:srgbClr val="125C69"/>
                </a:solidFill>
                <a:latin typeface="Arial"/>
              </a:defRPr>
            </a:pPr>
            <a:r>
              <a:t>05 / 亮點功能 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30352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48463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做過一次，學會一輩子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經驗資產化：當你與 AI 合作成功完成了一套繁琐的實驗數據清洗、報告生成或文件處理流程，直接對它說「把我們剛剛做的事情建立成一個 Skill」。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永久複用：AI 會將此流程提煉、打包成結構化的指令與指令腳本。下次只需一句話，AI 就能瞬間以完全相同的標準為您重複執行該任務。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303520" cy="201168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57400"/>
            <a:ext cx="48463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工業級防護護欄 ── Rate Limiting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自動實作指數退避 (Exponential Backoff)，呼叫內部系統 API 時不怕造成負載，安全防封鎖。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206240"/>
            <a:ext cx="5303520" cy="201168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4434840"/>
            <a:ext cx="48463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跨進程鎖 ── File-lock 安全防衝突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多個 AI 協同運行時自動共用進程鎖，避免讀寫衝突與代碼覆寫，展現強健的開發品質。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73152" cy="475488"/>
          </a:xfrm>
          <a:prstGeom prst="rect">
            <a:avLst/>
          </a:prstGeom>
          <a:solidFill>
            <a:srgbClr val="125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25C69"/>
                </a:solidFill>
                <a:latin typeface="微軟正黑體"/>
              </a:defRPr>
            </a:pPr>
            <a:r>
              <a:t>Antigravity 的協作最佳實踐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383280" cy="384048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defRPr sz="1200" b="1">
                <a:solidFill>
                  <a:srgbClr val="125C69"/>
                </a:solidFill>
                <a:latin typeface="Arial"/>
              </a:defRPr>
            </a:pPr>
            <a:r>
              <a:t>06 / 協作指南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38328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292608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大招 /goal 指令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終極耐心：當您有極其複雜、需要反覆嘗試、或希望跑一整夜自動化測試的任務時，輸入 /goal 指令啟動。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任務死守：AI 將進入徹底貫徹目標的深跑模式，不達目的絕不罷休。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828800"/>
            <a:ext cx="338328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2057400"/>
            <a:ext cx="292608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神器 /browser 指令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線上檢索：當開發涉及最新推出的科學文獻、API 文件或遇到極難排除的 Bug 時，引導 AI 啟動瀏覽功能。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掌握即時：實時上網翻閱官方文件，避免使用過時資訊開發代碼。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383280" cy="4389120"/>
          </a:xfrm>
          <a:prstGeom prst="roundRect">
            <a:avLst/>
          </a:prstGeom>
          <a:solidFill>
            <a:srgbClr val="DB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057400"/>
            <a:ext cx="292608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25C69"/>
                </a:solidFill>
                <a:latin typeface="微軟正黑體"/>
              </a:defRPr>
            </a:pPr>
            <a:r>
              <a:t>習慣 台灣繁體中文版控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道地用語：Antigravity 撰寫的程式註解、commit message、以及報告文件皆使用道地台灣用語，無縫融入團隊溝通。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微軟正黑體"/>
              </a:defRPr>
            </a:pPr>
            <a:r>
              <a:t>• 主分支防禦：開發過程嚴格於獨立分支進行，確保主程式庫的極致純淨。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